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840480" cy="5070348"/>
          </a:xfrm>
          <a:prstGeom prst="roundRect">
            <a:avLst/>
          </a:prstGeom>
          <a:solidFill>
            <a:srgbClr val="0F19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20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9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54864" cy="19202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3291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شامل للأداء التجاري عبر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داشبورد تفاعلية متكاملة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43434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343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921"/>
                </a:solidFill>
              </a:rPr>
              <a:t>2023–2025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365760"/>
            <a:ext cx="4937760" cy="3200400"/>
          </a:xfrm>
          <a:prstGeom prst="roundRect">
            <a:avLst>
              <a:gd name="adj" fmla="val 342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9080" y="411480"/>
            <a:ext cx="4846320" cy="31089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023360" y="37033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23360" y="3703320"/>
            <a:ext cx="9144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2"/>
          <p:cNvSpPr/>
          <p:nvPr/>
        </p:nvSpPr>
        <p:spPr>
          <a:xfrm>
            <a:off x="4023360" y="3776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23360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10912" y="37033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10912" y="3703320"/>
            <a:ext cx="914400" cy="4572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9" name="Text 16"/>
          <p:cNvSpPr/>
          <p:nvPr/>
        </p:nvSpPr>
        <p:spPr>
          <a:xfrm>
            <a:off x="5010912" y="3776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10912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98464" y="37033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98464" y="3703320"/>
            <a:ext cx="914400" cy="45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3" name="Text 20"/>
          <p:cNvSpPr/>
          <p:nvPr/>
        </p:nvSpPr>
        <p:spPr>
          <a:xfrm>
            <a:off x="5998464" y="3776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998464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86016" y="37033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86016" y="3703320"/>
            <a:ext cx="914400" cy="457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7" name="Text 24"/>
          <p:cNvSpPr/>
          <p:nvPr/>
        </p:nvSpPr>
        <p:spPr>
          <a:xfrm>
            <a:off x="6986016" y="3776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86016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973568" y="37033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973568" y="3703320"/>
            <a:ext cx="9144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8"/>
          <p:cNvSpPr/>
          <p:nvPr/>
        </p:nvSpPr>
        <p:spPr>
          <a:xfrm>
            <a:off x="7973568" y="3776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973568" y="4251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4" name="Text 3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Amazon E-Commerce Analytics  |  Full Dashboard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Overview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of 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31921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30352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8046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أبرز المؤشرات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06440" y="1234440"/>
            <a:ext cx="3154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234440"/>
            <a:ext cx="54864" cy="731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2710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إجمالي الإيرادات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1545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06640" y="15453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موزعة على 8 فئات رئيسية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06440" y="2075688"/>
            <a:ext cx="3154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06440" y="2075688"/>
            <a:ext cx="54864" cy="7315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6" name="Text 13"/>
          <p:cNvSpPr/>
          <p:nvPr/>
        </p:nvSpPr>
        <p:spPr>
          <a:xfrm>
            <a:off x="5989320" y="21122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هامش الربح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2386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06640" y="23865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ربح صافٍ قوي جداً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06440" y="2916936"/>
            <a:ext cx="3154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06440" y="2916936"/>
            <a:ext cx="54864" cy="73152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1" name="Text 18"/>
          <p:cNvSpPr/>
          <p:nvPr/>
        </p:nvSpPr>
        <p:spPr>
          <a:xfrm>
            <a:off x="5989320" y="29535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أعلى مدينة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8932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LA: 229M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06640" y="3227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 في المقدمة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06440" y="3758184"/>
            <a:ext cx="3154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3758184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3"/>
          <p:cNvSpPr/>
          <p:nvPr/>
        </p:nvSpPr>
        <p:spPr>
          <a:xfrm>
            <a:off x="5989320" y="3794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أعلى فئة مبيعاً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98932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151M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406640" y="4069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 Fashion 137M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806440" y="4572000"/>
            <a:ext cx="3154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852160" y="45720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التوزيع السنوي متساوٍ تقريباً: 2023 ≈ 2024 ≈ 2025 بنسبة 33.3% لكل عام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4320" y="431596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43159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فلتر الماركات: Adidas · Apple · Dell · HP · Ikea · Lenovo · Nike · Samsung · Sony — تفاعلي على الداشبورد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Sales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of 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31921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30352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8046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إيرادات الماركات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0" y="1298448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0" y="1298448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2" name="Text 9"/>
          <p:cNvSpPr/>
          <p:nvPr/>
        </p:nvSpPr>
        <p:spPr>
          <a:xfrm>
            <a:off x="8430768" y="12618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15636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58000" y="1600200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15" name="Shape 12"/>
          <p:cNvSpPr/>
          <p:nvPr/>
        </p:nvSpPr>
        <p:spPr>
          <a:xfrm>
            <a:off x="6858000" y="1600200"/>
            <a:ext cx="1523390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8430768" y="156362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06440" y="1865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Adidas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58000" y="1901952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0" y="1901952"/>
            <a:ext cx="1476756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20" name="Text 17"/>
          <p:cNvSpPr/>
          <p:nvPr/>
        </p:nvSpPr>
        <p:spPr>
          <a:xfrm>
            <a:off x="8430768" y="186537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06440" y="21671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58000" y="2203704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0" y="2203704"/>
            <a:ext cx="1476756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24" name="Text 21"/>
          <p:cNvSpPr/>
          <p:nvPr/>
        </p:nvSpPr>
        <p:spPr>
          <a:xfrm>
            <a:off x="8430768" y="21671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06440" y="2468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858000" y="2505456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27" name="Shape 24"/>
          <p:cNvSpPr/>
          <p:nvPr/>
        </p:nvSpPr>
        <p:spPr>
          <a:xfrm>
            <a:off x="6858000" y="2505456"/>
            <a:ext cx="1461211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28" name="Text 25"/>
          <p:cNvSpPr/>
          <p:nvPr/>
        </p:nvSpPr>
        <p:spPr>
          <a:xfrm>
            <a:off x="8430768" y="24688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06440" y="27706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858000" y="2807208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31" name="Shape 28"/>
          <p:cNvSpPr/>
          <p:nvPr/>
        </p:nvSpPr>
        <p:spPr>
          <a:xfrm>
            <a:off x="6858000" y="2807208"/>
            <a:ext cx="1445666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32" name="Text 29"/>
          <p:cNvSpPr/>
          <p:nvPr/>
        </p:nvSpPr>
        <p:spPr>
          <a:xfrm>
            <a:off x="8430768" y="27706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0644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858000" y="3108960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0" y="3108960"/>
            <a:ext cx="1414577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36" name="Text 33"/>
          <p:cNvSpPr/>
          <p:nvPr/>
        </p:nvSpPr>
        <p:spPr>
          <a:xfrm>
            <a:off x="8430768" y="307238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806440" y="33741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858000" y="3410712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39" name="Shape 36"/>
          <p:cNvSpPr/>
          <p:nvPr/>
        </p:nvSpPr>
        <p:spPr>
          <a:xfrm>
            <a:off x="6858000" y="3410712"/>
            <a:ext cx="1399032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0" name="Text 37"/>
          <p:cNvSpPr/>
          <p:nvPr/>
        </p:nvSpPr>
        <p:spPr>
          <a:xfrm>
            <a:off x="8430768" y="337413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806440" y="36758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858000" y="3712464"/>
            <a:ext cx="155448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43" name="Shape 40"/>
          <p:cNvSpPr/>
          <p:nvPr/>
        </p:nvSpPr>
        <p:spPr>
          <a:xfrm>
            <a:off x="6858000" y="3712464"/>
            <a:ext cx="1336853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4" name="Text 41"/>
          <p:cNvSpPr/>
          <p:nvPr/>
        </p:nvSpPr>
        <p:spPr>
          <a:xfrm>
            <a:off x="8430768" y="36758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111M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41605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852160" y="41605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Product: HP Ball — Revenue 7.17M | Qty 15,100 | Margin 42.0%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74320" y="431596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E8F4FD"/>
          </a:solidFill>
          <a:ln w="6350">
            <a:solidFill>
              <a:srgbClr val="146EB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43159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جميع كودات الخصم (Promo 2, 6, 32, 39, 46) تعطي متوسط خصم 10.1% — سياسة تسعير موحدة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Customers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of 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31921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30352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8046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العملاء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12618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توزيع مستوى الولاء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06440" y="1600200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AFA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1600200"/>
            <a:ext cx="1264711" cy="320040"/>
          </a:xfrm>
          <a:prstGeom prst="roundRect">
            <a:avLst>
              <a:gd name="adj" fmla="val 17143"/>
            </a:avLst>
          </a:prstGeom>
          <a:solidFill>
            <a:srgbClr val="CD7F32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1600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21040" y="16002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40.09%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06440" y="1984248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AFA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1984248"/>
            <a:ext cx="935678" cy="320040"/>
          </a:xfrm>
          <a:prstGeom prst="roundRect">
            <a:avLst>
              <a:gd name="adj" fmla="val 17143"/>
            </a:avLst>
          </a:prstGeom>
          <a:solidFill>
            <a:srgbClr val="C0C0C0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897880" y="19842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21040" y="198424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29.66%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06440" y="2368296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AFA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06440" y="2368296"/>
            <a:ext cx="639769" cy="320040"/>
          </a:xfrm>
          <a:prstGeom prst="roundRect">
            <a:avLst>
              <a:gd name="adj" fmla="val 17143"/>
            </a:avLst>
          </a:prstGeom>
          <a:solidFill>
            <a:srgbClr val="F0B429">
              <a:alpha val="7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897880" y="23682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21040" y="236829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20.28%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06440" y="2752344"/>
            <a:ext cx="3154680" cy="320040"/>
          </a:xfrm>
          <a:prstGeom prst="roundRect">
            <a:avLst>
              <a:gd name="adj" fmla="val 17143"/>
            </a:avLst>
          </a:prstGeom>
          <a:solidFill>
            <a:srgbClr val="FAFAFA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06440" y="2752344"/>
            <a:ext cx="314206" cy="320040"/>
          </a:xfrm>
          <a:prstGeom prst="roundRect">
            <a:avLst>
              <a:gd name="adj" fmla="val 17461"/>
            </a:avLst>
          </a:prstGeom>
          <a:solidFill>
            <a:srgbClr val="E5E4E2">
              <a:alpha val="7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897880" y="27523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21040" y="275234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9.96%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806440" y="32461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الإيرادات حسب الدخل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806440" y="3566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675120" y="361188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29" name="Shape 26"/>
          <p:cNvSpPr/>
          <p:nvPr/>
        </p:nvSpPr>
        <p:spPr>
          <a:xfrm>
            <a:off x="6675120" y="361188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30" name="Text 27"/>
          <p:cNvSpPr/>
          <p:nvPr/>
        </p:nvSpPr>
        <p:spPr>
          <a:xfrm>
            <a:off x="8366760" y="35661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0.54bn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806440" y="3886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675120" y="393192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33" name="Shape 30"/>
          <p:cNvSpPr/>
          <p:nvPr/>
        </p:nvSpPr>
        <p:spPr>
          <a:xfrm>
            <a:off x="6675120" y="3931920"/>
            <a:ext cx="1004011" cy="182880"/>
          </a:xfrm>
          <a:prstGeom prst="roundRect">
            <a:avLst>
              <a:gd name="adj" fmla="val 20000"/>
            </a:avLst>
          </a:prstGeom>
          <a:solidFill>
            <a:srgbClr val="F0B429"/>
          </a:solidFill>
          <a:ln/>
        </p:spPr>
      </p:sp>
      <p:sp>
        <p:nvSpPr>
          <p:cNvPr id="34" name="Text 31"/>
          <p:cNvSpPr/>
          <p:nvPr/>
        </p:nvSpPr>
        <p:spPr>
          <a:xfrm>
            <a:off x="8366760" y="3886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0.33bn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806440" y="4206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675120" y="4251960"/>
            <a:ext cx="1645920" cy="182880"/>
          </a:xfrm>
          <a:prstGeom prst="roundRect">
            <a:avLst>
              <a:gd name="adj" fmla="val 20000"/>
            </a:avLst>
          </a:prstGeom>
          <a:solidFill>
            <a:srgbClr val="E9ECEF"/>
          </a:solidFill>
          <a:ln/>
        </p:spPr>
      </p:sp>
      <p:sp>
        <p:nvSpPr>
          <p:cNvPr id="37" name="Shape 34"/>
          <p:cNvSpPr/>
          <p:nvPr/>
        </p:nvSpPr>
        <p:spPr>
          <a:xfrm>
            <a:off x="6675120" y="4251960"/>
            <a:ext cx="674827" cy="182880"/>
          </a:xfrm>
          <a:prstGeom prst="roundRect">
            <a:avLst>
              <a:gd name="adj" fmla="val 20000"/>
            </a:avLst>
          </a:prstGeom>
          <a:solidFill>
            <a:srgbClr val="146EB4"/>
          </a:solidFill>
          <a:ln/>
        </p:spPr>
      </p:sp>
      <p:sp>
        <p:nvSpPr>
          <p:cNvPr id="38" name="Text 35"/>
          <p:cNvSpPr/>
          <p:nvPr/>
        </p:nvSpPr>
        <p:spPr>
          <a:xfrm>
            <a:off x="8366760" y="42062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0.22bn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4320" y="431596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D4EDDA"/>
          </a:solidFill>
          <a:ln w="6350">
            <a:solidFill>
              <a:srgbClr val="28A74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43159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توزيع الإيرادات بين الذكور والإناث متوازن جداً عبر جميع الفئات العمرية (20–60+)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 Stores &amp; Employees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10972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of 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131921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530352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0" y="8046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أداء المتاجر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06440" y="1234440"/>
            <a:ext cx="3154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06440" y="1234440"/>
            <a:ext cx="3154680" cy="347472"/>
          </a:xfrm>
          <a:prstGeom prst="roundRect">
            <a:avLst>
              <a:gd name="adj" fmla="val 21053"/>
            </a:avLst>
          </a:prstGeom>
          <a:solidFill>
            <a:srgbClr val="131921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234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المتجر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0" y="1234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</a:rPr>
              <a:t>الإيراد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89520" y="1234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B429"/>
                </a:solidFill>
              </a:rPr>
              <a:t>الأوامر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1234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AEC0"/>
                </a:solidFill>
              </a:rPr>
              <a:t>Avg $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806440" y="1581912"/>
            <a:ext cx="315468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1581912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97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83680" y="1581912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11.22M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589520" y="1581912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503920" y="1581912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806440" y="1865376"/>
            <a:ext cx="3154680" cy="28346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8"/>
          <p:cNvSpPr/>
          <p:nvPr/>
        </p:nvSpPr>
        <p:spPr>
          <a:xfrm>
            <a:off x="5852160" y="1865376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52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83680" y="1865376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11.23M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589520" y="1865376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10,214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503920" y="1865376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$1,099.42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806440" y="2148840"/>
            <a:ext cx="315468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5852160" y="2148840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29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83680" y="2148840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11.17M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589520" y="2148840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10,140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503920" y="2148840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$1,101.33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806440" y="2432304"/>
            <a:ext cx="3154680" cy="28346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1" name="Text 28"/>
          <p:cNvSpPr/>
          <p:nvPr/>
        </p:nvSpPr>
        <p:spPr>
          <a:xfrm>
            <a:off x="5852160" y="2432304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10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583680" y="2432304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11.21M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589520" y="2432304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9,856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503920" y="2432304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$1,100.40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806440" y="2715768"/>
            <a:ext cx="315468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5852160" y="2715768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21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583680" y="2715768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11.06M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89520" y="2715768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10,025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503920" y="2715768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$1,103.79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806440" y="2999232"/>
            <a:ext cx="3154680" cy="28346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1" name="Text 38"/>
          <p:cNvSpPr/>
          <p:nvPr/>
        </p:nvSpPr>
        <p:spPr>
          <a:xfrm>
            <a:off x="5852160" y="2999232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88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583680" y="2999232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11.11M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589520" y="2999232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10,068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503920" y="2999232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$1,099.95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5806440" y="3282696"/>
            <a:ext cx="3154680" cy="283464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46" name="Text 43"/>
          <p:cNvSpPr/>
          <p:nvPr/>
        </p:nvSpPr>
        <p:spPr>
          <a:xfrm>
            <a:off x="5852160" y="3282696"/>
            <a:ext cx="731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583680" y="3282696"/>
            <a:ext cx="1005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111.29M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589520" y="3282696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100,353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503920" y="3282696"/>
            <a:ext cx="411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$1,101.66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806440" y="3657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توزيع الأقسام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806440" y="3977640"/>
            <a:ext cx="2172786" cy="201168"/>
          </a:xfrm>
          <a:prstGeom prst="roundRect">
            <a:avLst>
              <a:gd name="adj" fmla="val 18182"/>
            </a:avLst>
          </a:prstGeom>
          <a:solidFill>
            <a:srgbClr val="FF9900"/>
          </a:solidFill>
          <a:ln/>
        </p:spPr>
      </p:sp>
      <p:sp>
        <p:nvSpPr>
          <p:cNvPr id="52" name="Text 49"/>
          <p:cNvSpPr/>
          <p:nvPr/>
        </p:nvSpPr>
        <p:spPr>
          <a:xfrm>
            <a:off x="5852160" y="39776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 27.55%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806440" y="4233672"/>
            <a:ext cx="1951170" cy="201168"/>
          </a:xfrm>
          <a:prstGeom prst="roundRect">
            <a:avLst>
              <a:gd name="adj" fmla="val 18182"/>
            </a:avLst>
          </a:prstGeom>
          <a:solidFill>
            <a:srgbClr val="F0B429"/>
          </a:solidFill>
          <a:ln/>
        </p:spPr>
      </p:sp>
      <p:sp>
        <p:nvSpPr>
          <p:cNvPr id="54" name="Text 51"/>
          <p:cNvSpPr/>
          <p:nvPr/>
        </p:nvSpPr>
        <p:spPr>
          <a:xfrm>
            <a:off x="5852160" y="4233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 24.74%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806440" y="4489704"/>
            <a:ext cx="1889653" cy="201168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56" name="Text 53"/>
          <p:cNvSpPr/>
          <p:nvPr/>
        </p:nvSpPr>
        <p:spPr>
          <a:xfrm>
            <a:off x="5852160" y="448970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23.96%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806440" y="4745736"/>
            <a:ext cx="1873091" cy="201168"/>
          </a:xfrm>
          <a:prstGeom prst="roundRect">
            <a:avLst>
              <a:gd name="adj" fmla="val 18182"/>
            </a:avLst>
          </a:prstGeom>
          <a:solidFill>
            <a:srgbClr val="146EB4"/>
          </a:solidFill>
          <a:ln/>
        </p:spPr>
      </p:sp>
      <p:sp>
        <p:nvSpPr>
          <p:cNvPr id="58" name="Text 55"/>
          <p:cNvSpPr/>
          <p:nvPr/>
        </p:nvSpPr>
        <p:spPr>
          <a:xfrm>
            <a:off x="5852160" y="47457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 23.75%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274320" y="4315968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FFF3CD"/>
          </a:solidFill>
          <a:ln w="6350">
            <a:solidFill>
              <a:srgbClr val="FF99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20040" y="43159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المتاجر موزعة جغرافياً على الولايات المتحدة — تركز في الجنوب والغرب مع غياب في الشمال الغربي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شاملة على الداشبوردات الأربعة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E-Commerce Analytics Dashboard — Full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343400" cy="1920240"/>
          </a:xfrm>
          <a:prstGeom prst="roundRect">
            <a:avLst>
              <a:gd name="adj" fmla="val 4762"/>
            </a:avLst>
          </a:prstGeom>
          <a:solidFill>
            <a:srgbClr val="0F1923"/>
          </a:solidFill>
          <a:ln w="10160">
            <a:solidFill>
              <a:srgbClr val="FF99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25196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2697480"/>
            <a:ext cx="4343400" cy="22860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" y="26974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Overview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343400" cy="1920240"/>
          </a:xfrm>
          <a:prstGeom prst="roundRect">
            <a:avLst>
              <a:gd name="adj" fmla="val 4762"/>
            </a:avLst>
          </a:prstGeom>
          <a:solidFill>
            <a:srgbClr val="0F1923"/>
          </a:solidFill>
          <a:ln w="10160">
            <a:solidFill>
              <a:srgbClr val="FF99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51560"/>
            <a:ext cx="4251960" cy="1645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09160" y="2697480"/>
            <a:ext cx="4343400" cy="22860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26974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Sales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8600" y="3063240"/>
            <a:ext cx="4343400" cy="1920240"/>
          </a:xfrm>
          <a:prstGeom prst="roundRect">
            <a:avLst>
              <a:gd name="adj" fmla="val 4762"/>
            </a:avLst>
          </a:prstGeom>
          <a:solidFill>
            <a:srgbClr val="0F1923"/>
          </a:solidFill>
          <a:ln w="10160">
            <a:solidFill>
              <a:srgbClr val="FF99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108960"/>
            <a:ext cx="4251960" cy="16459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28600" y="4754880"/>
            <a:ext cx="4343400" cy="22860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16" name="Text 11"/>
          <p:cNvSpPr/>
          <p:nvPr/>
        </p:nvSpPr>
        <p:spPr>
          <a:xfrm>
            <a:off x="228600" y="4754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3063240"/>
            <a:ext cx="4343400" cy="1920240"/>
          </a:xfrm>
          <a:prstGeom prst="roundRect">
            <a:avLst>
              <a:gd name="adj" fmla="val 4762"/>
            </a:avLst>
          </a:prstGeom>
          <a:solidFill>
            <a:srgbClr val="0F1923"/>
          </a:solidFill>
          <a:ln w="10160">
            <a:solidFill>
              <a:srgbClr val="FF990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3108960"/>
            <a:ext cx="4251960" cy="16459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709160" y="4754880"/>
            <a:ext cx="4343400" cy="228600"/>
          </a:xfrm>
          <a:prstGeom prst="roundRect">
            <a:avLst/>
          </a:prstGeom>
          <a:solidFill>
            <a:srgbClr val="FF9900"/>
          </a:solidFill>
          <a:ln/>
        </p:spPr>
      </p:sp>
      <p:sp>
        <p:nvSpPr>
          <p:cNvPr id="20" name="Text 14"/>
          <p:cNvSpPr/>
          <p:nvPr/>
        </p:nvSpPr>
        <p:spPr>
          <a:xfrm>
            <a:off x="4709160" y="475488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Stores &amp; Employees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أبرز الاستنتاجات والمقترحات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13192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ما تكشفه البيانات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98448"/>
            <a:ext cx="54864" cy="62179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3441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Los Angeles تقود الإيرادات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6184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بـ 229M تتفوق على ثاني مدينة بفارق 56M — فرصة للتركيز في السوق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0574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Books الفئة الأكثر مبيعاً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331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151M تتصدر 8 فئات — فجوة صغيرة بينها وبين Fashion 137M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24912"/>
            <a:ext cx="54864" cy="62179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7706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Bronze يهيمن على الولاء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044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من الإيرادات من عملاء Bronze — قاعدة عريضة لم تُكافَأ كفايةً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4838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توزيع سنوي متوازن تماماً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" y="37581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33.3% لكل عام (2023/2024/2025) — استقرار مبيعاتي ممتاز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15137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151376"/>
            <a:ext cx="54864" cy="621792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41970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الدخل المتوسط يقود الشراء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" y="447141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0.54bn مقابل 0.22bn للدخل المرتفع — الشريحة الأوسع هي الأكثر شراءً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804672"/>
            <a:ext cx="411480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1921"/>
                </a:solidFill>
              </a:rPr>
              <a:t>✦  التوصيات الاستراتيجية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29844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BF0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298448"/>
            <a:ext cx="54864" cy="62179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13441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توسيع العمليات في LA وMiami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16184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المدينتان تجمعان 402M — الاستثمار في مستودعات ومتاجر إضافية فيهما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01168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BF0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011680"/>
            <a:ext cx="54864" cy="62179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20574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برنامج ترقية Bronze إلى Silver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23317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تحفيز 40% من العملاء على التدرج للأعلى يرفع متوسط قيمة الطلب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724912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BF0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2724912"/>
            <a:ext cx="54864" cy="621792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27706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تقوية فئة Electronics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3044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الأدنى مبيعاً رغم الهامش الجيد — حملات تسويقية موجهة لها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438144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BF0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438144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34838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توحيد استراتيجية الخصم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37581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الـ Promos تعطي 10.1% — اختبار A/B لمعرفة الأكثر تحويلاً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4151376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FFBF0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4151376"/>
            <a:ext cx="54864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4919472" y="41970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تحسين تغطية المتاجر جغرافياً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19472" y="447141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في الشمال الغربي والوسط — فتح متاجر في Chicago وDenver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9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المؤشرات الرئيسية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E-Commerce Analytics — Consolidated KPIs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70432"/>
            <a:ext cx="161848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26187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" y="169164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2194560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الإيرادات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84248" y="1170432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1170432"/>
            <a:ext cx="1618488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1984248" y="126187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84248" y="169164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84248" y="2194560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صافي الأرباح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9896" y="1170432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9896" y="1170432"/>
            <a:ext cx="1618488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3739896" y="126187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39896" y="169164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39896" y="2194560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هامش الربح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5544" y="1170432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95544" y="1170432"/>
            <a:ext cx="1618488" cy="54864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2" name="Text 20"/>
          <p:cNvSpPr/>
          <p:nvPr/>
        </p:nvSpPr>
        <p:spPr>
          <a:xfrm>
            <a:off x="5495544" y="126187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95544" y="169164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95544" y="2194560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الطلبات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51192" y="1170432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51192" y="1170432"/>
            <a:ext cx="161848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1261872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51192" y="1691640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51192" y="2194560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العملاء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2743200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2743200"/>
            <a:ext cx="161848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2834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28600" y="326440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28600" y="376732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قيمة الطلب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84248" y="2743200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84248" y="2743200"/>
            <a:ext cx="1618488" cy="54864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37" name="Text 35"/>
          <p:cNvSpPr/>
          <p:nvPr/>
        </p:nvSpPr>
        <p:spPr>
          <a:xfrm>
            <a:off x="1984248" y="2834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984248" y="326440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E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229M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84248" y="376732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مدينة إيراداً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39896" y="2743200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39896" y="2743200"/>
            <a:ext cx="161848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3739896" y="2834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739896" y="326440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739896" y="376732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فئة مبيعاً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95544" y="2743200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95544" y="2743200"/>
            <a:ext cx="1618488" cy="54864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7" name="Text 45"/>
          <p:cNvSpPr/>
          <p:nvPr/>
        </p:nvSpPr>
        <p:spPr>
          <a:xfrm>
            <a:off x="5495544" y="2834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495544" y="326440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129M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95544" y="376732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ماركة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51192" y="2743200"/>
            <a:ext cx="1618488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251192" y="2743200"/>
            <a:ext cx="161848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7251192" y="2834640"/>
            <a:ext cx="161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1192" y="3264408"/>
            <a:ext cx="1618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111.29M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251192" y="3767328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إيرادات أفضل 10 متاجر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371600" y="4389120"/>
            <a:ext cx="6400800" cy="384048"/>
          </a:xfrm>
          <a:prstGeom prst="roundRect">
            <a:avLst>
              <a:gd name="adj" fmla="val 23810"/>
            </a:avLst>
          </a:prstGeom>
          <a:solidFill>
            <a:srgbClr val="FF9900"/>
          </a:solidFill>
          <a:ln/>
        </p:spPr>
      </p:sp>
      <p:sp>
        <p:nvSpPr>
          <p:cNvPr id="56" name="Text 54"/>
          <p:cNvSpPr/>
          <p:nvPr/>
        </p:nvSpPr>
        <p:spPr>
          <a:xfrm>
            <a:off x="1371600" y="4389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19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داشبورد Amazon — أداة متكاملة لتحليل الأداء التجاري واتخاذ قرارات مبنية على البيانات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FF99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E-Commerce Analytics Dashboard</dc:title>
  <dc:subject>PptxGenJS Presentation</dc:subject>
  <dc:creator>PptxGenJS</dc:creator>
  <cp:lastModifiedBy>PptxGenJS</cp:lastModifiedBy>
  <cp:revision>1</cp:revision>
  <dcterms:created xsi:type="dcterms:W3CDTF">2026-06-25T19:52:51Z</dcterms:created>
  <dcterms:modified xsi:type="dcterms:W3CDTF">2026-06-25T19:52:51Z</dcterms:modified>
</cp:coreProperties>
</file>